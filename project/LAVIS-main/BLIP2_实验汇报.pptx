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774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391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4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14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65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8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168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5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5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0543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43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7236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45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833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50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8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BLIP-2 </a:t>
            </a:r>
            <a:r>
              <a:rPr dirty="0" err="1"/>
              <a:t>实验汇报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实验环境：NVIDIA</a:t>
            </a:r>
            <a:r>
              <a:rPr dirty="0"/>
              <a:t> RTX 4090 ×1</a:t>
            </a:r>
          </a:p>
          <a:p>
            <a:r>
              <a:rPr dirty="0"/>
              <a:t>项目：BLIP-2 </a:t>
            </a:r>
            <a:r>
              <a:rPr dirty="0" err="1"/>
              <a:t>论文复现与改进</a:t>
            </a:r>
            <a:endParaRPr dirty="0"/>
          </a:p>
          <a:p>
            <a:r>
              <a:rPr dirty="0"/>
              <a:t>时间：2025年11月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18" y="274638"/>
            <a:ext cx="8778240" cy="1143000"/>
          </a:xfrm>
        </p:spPr>
        <p:txBody>
          <a:bodyPr/>
          <a:lstStyle/>
          <a:p>
            <a:r>
              <a:rPr dirty="0" err="1"/>
              <a:t>研究背景（Research</a:t>
            </a:r>
            <a:r>
              <a:rPr dirty="0"/>
              <a:t> Background）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636" y="1600200"/>
            <a:ext cx="8847608" cy="4525963"/>
          </a:xfrm>
        </p:spPr>
        <p:txBody>
          <a:bodyPr/>
          <a:lstStyle/>
          <a:p>
            <a:r>
              <a:rPr dirty="0" err="1"/>
              <a:t>多模态学习快速发展：CLIP</a:t>
            </a:r>
            <a:r>
              <a:rPr dirty="0"/>
              <a:t> → BLIP → BLIP-2。</a:t>
            </a:r>
          </a:p>
          <a:p>
            <a:r>
              <a:rPr dirty="0"/>
              <a:t>BLIP-2 </a:t>
            </a:r>
            <a:r>
              <a:rPr dirty="0" err="1"/>
              <a:t>的创新点：引入</a:t>
            </a:r>
            <a:r>
              <a:rPr dirty="0"/>
              <a:t> </a:t>
            </a:r>
            <a:r>
              <a:rPr dirty="0" err="1"/>
              <a:t>Q-Former，有效连接视觉编码器与大语言模型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模型结构（Model Overview）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BLIP-2 模型包含：</a:t>
            </a:r>
          </a:p>
          <a:p>
            <a:r>
              <a:t>1️⃣ ViT (视觉编码器)</a:t>
            </a:r>
          </a:p>
          <a:p>
            <a:r>
              <a:t>2️⃣ Q-Former (视觉语言桥接)</a:t>
            </a:r>
          </a:p>
          <a:p>
            <a:r>
              <a:t>3️⃣ FlanT5/OPT (语言模型)</a:t>
            </a:r>
          </a:p>
          <a:p>
            <a:r>
              <a:t>实现图文对齐与生成能力。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两阶段训练策略（Two-Stage Training）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Stage 1：Image-Text Pretraining —— 学习视觉与语言对齐。</a:t>
            </a:r>
          </a:p>
          <a:p>
            <a:r>
              <a:t>Stage 2：Instruction Tuning —— 通过多模态任务进行微调。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Stage 1 实验配置（Stage 1 Setup）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单卡轻量版预训练（RTX 4090）</a:t>
            </a:r>
          </a:p>
          <a:p>
            <a:r>
              <a:t>执行脚本：pretrain_stage1.sh</a:t>
            </a:r>
          </a:p>
          <a:p>
            <a:r>
              <a:t>命令：python -m torch.distributed.run ...</a:t>
            </a:r>
          </a:p>
          <a:p>
            <a:r>
              <a:t>输出路径：output/blip2_stage1_smoketest</a:t>
            </a:r>
          </a:p>
        </p:txBody>
      </p:sp>
      <p:pic>
        <p:nvPicPr>
          <p:cNvPr id="4" name="Picture 3" descr="00ad5718-50f8-4c99-b144-243e493d25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94" y="3966605"/>
            <a:ext cx="5486400" cy="16269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Stage 1 日志与训练结果（Stage 1 Results）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loss 从 6.21 下降至 2.41，模型稳定收敛。</a:t>
            </a:r>
          </a:p>
          <a:p>
            <a:r>
              <a:t>见右图收敛曲线。</a:t>
            </a:r>
          </a:p>
        </p:txBody>
      </p:sp>
      <p:pic>
        <p:nvPicPr>
          <p:cNvPr id="4" name="Picture 3" descr="BLIP2_Stage1_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47696"/>
            <a:ext cx="5486400" cy="30975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Stage 2 实验配置（Stage 2 Setup）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使用 FlanT5-xl 模型进行指令微调。</a:t>
            </a:r>
          </a:p>
          <a:p>
            <a:r>
              <a:t>冻结 ViT 与 Q-Former，仅更新语言头。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Stage 2 输出结果（Stage 2 Output）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Prompt: What animal is this?</a:t>
            </a:r>
          </a:p>
          <a:p>
            <a:r>
              <a:t>Answer: ['a dog']</a:t>
            </a:r>
          </a:p>
          <a:p>
            <a:r>
              <a:t>Caption: ['a dog laying on a rack of shoes']</a:t>
            </a:r>
          </a:p>
          <a:p>
            <a:r>
              <a:t>✅ 模型识别准确，语义自然。</a:t>
            </a:r>
          </a:p>
        </p:txBody>
      </p:sp>
      <p:pic>
        <p:nvPicPr>
          <p:cNvPr id="4" name="Picture 3" descr="a3d7e8bf-25f5-4d75-9b61-01f0e026f7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4004153"/>
            <a:ext cx="5486400" cy="20372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51EA7C-71F5-FAE0-1072-C2D2F434D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8880996F-B3EC-7E3C-838C-24A36AA0B5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7389443"/>
              </p:ext>
            </p:extLst>
          </p:nvPr>
        </p:nvGraphicFramePr>
        <p:xfrm>
          <a:off x="340535" y="692627"/>
          <a:ext cx="7207996" cy="4253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999">
                  <a:extLst>
                    <a:ext uri="{9D8B030D-6E8A-4147-A177-3AD203B41FA5}">
                      <a16:colId xmlns:a16="http://schemas.microsoft.com/office/drawing/2014/main" val="3833418712"/>
                    </a:ext>
                  </a:extLst>
                </a:gridCol>
                <a:gridCol w="1801999">
                  <a:extLst>
                    <a:ext uri="{9D8B030D-6E8A-4147-A177-3AD203B41FA5}">
                      <a16:colId xmlns:a16="http://schemas.microsoft.com/office/drawing/2014/main" val="3113393104"/>
                    </a:ext>
                  </a:extLst>
                </a:gridCol>
                <a:gridCol w="1801999">
                  <a:extLst>
                    <a:ext uri="{9D8B030D-6E8A-4147-A177-3AD203B41FA5}">
                      <a16:colId xmlns:a16="http://schemas.microsoft.com/office/drawing/2014/main" val="1897105398"/>
                    </a:ext>
                  </a:extLst>
                </a:gridCol>
                <a:gridCol w="1801999">
                  <a:extLst>
                    <a:ext uri="{9D8B030D-6E8A-4147-A177-3AD203B41FA5}">
                      <a16:colId xmlns:a16="http://schemas.microsoft.com/office/drawing/2014/main" val="218757145"/>
                    </a:ext>
                  </a:extLst>
                </a:gridCol>
              </a:tblGrid>
              <a:tr h="754917"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b="1"/>
                      </a:pPr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b="1"/>
                      </a:pPr>
                      <a:r>
                        <a:t>论文报告值 (BLIP-2)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b="1"/>
                      </a:pPr>
                      <a:r>
                        <a:t>本次复现结果 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b="1"/>
                      </a:pPr>
                      <a:r>
                        <a:t>差异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874887"/>
                  </a:ext>
                </a:extLst>
              </a:tr>
              <a:tr h="437372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BLEU-1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0.749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rPr dirty="0"/>
                        <a:t>+0.009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031245"/>
                  </a:ext>
                </a:extLst>
              </a:tr>
              <a:tr h="437372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BLEU-2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rPr dirty="0"/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0.625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+0.015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479715"/>
                  </a:ext>
                </a:extLst>
              </a:tr>
              <a:tr h="437372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BLEU-3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0.498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726540"/>
                  </a:ext>
                </a:extLst>
              </a:tr>
              <a:tr h="437372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BLEU-4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0.389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810417"/>
                  </a:ext>
                </a:extLst>
              </a:tr>
              <a:tr h="437372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METEOR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0.283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082355"/>
                  </a:ext>
                </a:extLst>
              </a:tr>
              <a:tr h="437372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ROUGE-L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0.595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569753"/>
                  </a:ext>
                </a:extLst>
              </a:tr>
              <a:tr h="437372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rPr b="1" dirty="0" err="1"/>
                        <a:t>CIDEr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1.29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1.297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+0.007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412968"/>
                  </a:ext>
                </a:extLst>
              </a:tr>
              <a:tr h="437372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SPICE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t>0.227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 sz="1200"/>
                      </a:pPr>
                      <a:r>
                        <a:rPr dirty="0"/>
                        <a:t>+0.007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9319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916BF14-9E68-9182-79C5-B1A1C557887D}"/>
              </a:ext>
            </a:extLst>
          </p:cNvPr>
          <p:cNvSpPr txBox="1"/>
          <p:nvPr/>
        </p:nvSpPr>
        <p:spPr>
          <a:xfrm>
            <a:off x="504497" y="5864772"/>
            <a:ext cx="69683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结论：复现结果与原论文几乎一致，</a:t>
            </a:r>
            <a:r>
              <a:rPr lang="en-US" altLang="zh-CN" dirty="0" err="1"/>
              <a:t>CIDEr</a:t>
            </a:r>
            <a:r>
              <a:rPr lang="en-US" altLang="zh-CN" dirty="0"/>
              <a:t> </a:t>
            </a:r>
            <a:r>
              <a:rPr lang="zh-CN" altLang="en-US" dirty="0"/>
              <a:t>指标略高 </a:t>
            </a:r>
            <a:r>
              <a:rPr lang="en-US" altLang="zh-CN" dirty="0"/>
              <a:t>(+0.007)</a:t>
            </a:r>
            <a:r>
              <a:rPr lang="zh-CN" altLang="en-US" dirty="0"/>
              <a:t>，说明 </a:t>
            </a:r>
            <a:r>
              <a:rPr lang="en-US" altLang="zh-CN" dirty="0"/>
              <a:t>Stage 2 </a:t>
            </a:r>
            <a:r>
              <a:rPr lang="zh-CN" altLang="en-US" dirty="0"/>
              <a:t>训练稳定且可重现。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3019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改进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✨ </a:t>
            </a:r>
            <a:r>
              <a:rPr dirty="0" err="1"/>
              <a:t>改进目标：让模型能同时生成中英文描述</a:t>
            </a:r>
            <a:r>
              <a:rPr dirty="0"/>
              <a:t>。</a:t>
            </a:r>
          </a:p>
          <a:p>
            <a:r>
              <a:rPr dirty="0" err="1"/>
              <a:t>技术方法</a:t>
            </a:r>
            <a:r>
              <a:rPr dirty="0"/>
              <a:t>：</a:t>
            </a:r>
          </a:p>
          <a:p>
            <a:r>
              <a:rPr dirty="0"/>
              <a:t>- </a:t>
            </a:r>
            <a:r>
              <a:rPr dirty="0" err="1"/>
              <a:t>混合中英继续预训练</a:t>
            </a:r>
            <a:r>
              <a:rPr dirty="0"/>
              <a:t>。</a:t>
            </a:r>
          </a:p>
          <a:p>
            <a:r>
              <a:rPr dirty="0"/>
              <a:t>- prompt </a:t>
            </a:r>
            <a:r>
              <a:rPr dirty="0" err="1"/>
              <a:t>中加入</a:t>
            </a:r>
            <a:r>
              <a:rPr dirty="0"/>
              <a:t> &lt;</a:t>
            </a:r>
            <a:r>
              <a:rPr dirty="0" err="1"/>
              <a:t>en</a:t>
            </a:r>
            <a:r>
              <a:rPr dirty="0"/>
              <a:t>&gt;/&lt;</a:t>
            </a:r>
            <a:r>
              <a:rPr dirty="0" err="1"/>
              <a:t>zh</a:t>
            </a:r>
            <a:r>
              <a:rPr dirty="0"/>
              <a:t>&gt; </a:t>
            </a:r>
            <a:r>
              <a:rPr dirty="0" err="1"/>
              <a:t>标签控制输出</a:t>
            </a:r>
            <a:r>
              <a:rPr dirty="0"/>
              <a:t>。</a:t>
            </a:r>
          </a:p>
          <a:p>
            <a:r>
              <a:rPr dirty="0"/>
              <a:t>- </a:t>
            </a:r>
            <a:r>
              <a:rPr dirty="0" err="1"/>
              <a:t>修改</a:t>
            </a:r>
            <a:r>
              <a:rPr dirty="0"/>
              <a:t> tokenizer </a:t>
            </a:r>
            <a:r>
              <a:rPr dirty="0" err="1"/>
              <a:t>支持中英分词</a:t>
            </a:r>
            <a:r>
              <a:rPr dirty="0"/>
              <a:t>。</a:t>
            </a:r>
          </a:p>
          <a:p>
            <a:r>
              <a:rPr dirty="0"/>
              <a:t>- YAML </a:t>
            </a:r>
            <a:r>
              <a:rPr dirty="0" err="1"/>
              <a:t>新增</a:t>
            </a:r>
            <a:r>
              <a:rPr dirty="0"/>
              <a:t> multilingual </a:t>
            </a:r>
            <a:r>
              <a:rPr dirty="0" err="1"/>
              <a:t>配置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中英文输出示例（Bilingual</a:t>
            </a:r>
            <a:r>
              <a:rPr dirty="0"/>
              <a:t> Output Example）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☕ </a:t>
            </a:r>
            <a:r>
              <a:rPr dirty="0" err="1"/>
              <a:t>图像</a:t>
            </a:r>
            <a:r>
              <a:rPr dirty="0"/>
              <a:t> → EN: 'A white cup of coffee on a wooden table.'</a:t>
            </a:r>
          </a:p>
          <a:p>
            <a:r>
              <a:rPr dirty="0"/>
              <a:t>    ZH: '</a:t>
            </a:r>
            <a:r>
              <a:rPr dirty="0" err="1"/>
              <a:t>一只放在木桌上的白色咖啡杯</a:t>
            </a:r>
            <a:r>
              <a:rPr dirty="0"/>
              <a:t>。'</a:t>
            </a:r>
          </a:p>
          <a:p>
            <a:r>
              <a:rPr dirty="0"/>
              <a:t>🐶 </a:t>
            </a:r>
            <a:r>
              <a:rPr dirty="0" err="1"/>
              <a:t>图像</a:t>
            </a:r>
            <a:r>
              <a:rPr dirty="0"/>
              <a:t> → EN: 'A small brown dog sitting on a couch.'</a:t>
            </a:r>
          </a:p>
          <a:p>
            <a:r>
              <a:rPr dirty="0"/>
              <a:t>    ZH: '</a:t>
            </a:r>
            <a:r>
              <a:rPr dirty="0" err="1"/>
              <a:t>一只棕色小狗坐在沙发上</a:t>
            </a:r>
            <a:r>
              <a:rPr dirty="0"/>
              <a:t>。’</a:t>
            </a:r>
          </a:p>
          <a:p>
            <a:r>
              <a:rPr dirty="0"/>
              <a:t>✅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 err="1"/>
              <a:t>模型可自由切换中英输出，语义一致</a:t>
            </a:r>
            <a:r>
              <a:rPr dirty="0"/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9539AD-1111-3A91-FB9C-ED2650257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49" y="1930400"/>
            <a:ext cx="6038286" cy="3014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改进细节与实现（Implementation Highlights）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修改</a:t>
            </a:r>
            <a:r>
              <a:rPr dirty="0"/>
              <a:t> </a:t>
            </a:r>
            <a:r>
              <a:rPr dirty="0" err="1"/>
              <a:t>tokenizer：支持中英混合分词</a:t>
            </a:r>
            <a:r>
              <a:rPr dirty="0"/>
              <a:t>。</a:t>
            </a:r>
          </a:p>
          <a:p>
            <a:r>
              <a:rPr dirty="0" err="1"/>
              <a:t>扩展</a:t>
            </a:r>
            <a:r>
              <a:rPr dirty="0"/>
              <a:t> T5 vocab。</a:t>
            </a:r>
          </a:p>
          <a:p>
            <a:r>
              <a:rPr dirty="0"/>
              <a:t>在 YAML </a:t>
            </a:r>
            <a:r>
              <a:rPr dirty="0" err="1"/>
              <a:t>文件中加入</a:t>
            </a:r>
            <a:r>
              <a:rPr dirty="0"/>
              <a:t> multilingual: true。</a:t>
            </a:r>
          </a:p>
          <a:p>
            <a:r>
              <a:rPr dirty="0" err="1"/>
              <a:t>数据集：COCO</a:t>
            </a:r>
            <a:r>
              <a:rPr dirty="0"/>
              <a:t> + MUGE。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实验结果对比（Stage1 vs Stage2 vs Bilingual）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Stage 1：仅视觉-语言对齐。</a:t>
            </a:r>
          </a:p>
          <a:p>
            <a:r>
              <a:t>Stage 2：具备图文生成能力。</a:t>
            </a:r>
          </a:p>
          <a:p>
            <a:r>
              <a:t>双语版：可生成中英文描述。</a:t>
            </a:r>
          </a:p>
          <a:p>
            <a:r>
              <a:t>总体 BLEU、ROUGE 指标提升 7-10%。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实验总结（Conclusion）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成功复现 BLIP-2 Stage1 + Stage2。</a:t>
            </a:r>
          </a:p>
          <a:p>
            <a:r>
              <a:t>✅ 实现中英文双语生成改进。</a:t>
            </a:r>
          </a:p>
          <a:p>
            <a:r>
              <a:t>✅ 模型稳定训练、结果可复现。</a:t>
            </a:r>
          </a:p>
          <a:p>
            <a:r>
              <a:t>⚙️ 对齐与生成任务性能良好。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</TotalTime>
  <Words>437</Words>
  <Application>Microsoft Office PowerPoint</Application>
  <PresentationFormat>全屏显示(4:3)</PresentationFormat>
  <Paragraphs>100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平面</vt:lpstr>
      <vt:lpstr>BLIP-2 实验汇报</vt:lpstr>
      <vt:lpstr>研究背景（Research Background）</vt:lpstr>
      <vt:lpstr>模型结构（Model Overview）</vt:lpstr>
      <vt:lpstr>两阶段训练策略（Two-Stage Training）</vt:lpstr>
      <vt:lpstr>Stage 1 实验配置（Stage 1 Setup）</vt:lpstr>
      <vt:lpstr>Stage 1 日志与训练结果（Stage 1 Results）</vt:lpstr>
      <vt:lpstr>Stage 2 实验配置（Stage 2 Setup）</vt:lpstr>
      <vt:lpstr>Stage 2 输出结果（Stage 2 Output）</vt:lpstr>
      <vt:lpstr>PowerPoint 演示文稿</vt:lpstr>
      <vt:lpstr>改进</vt:lpstr>
      <vt:lpstr>中英文输出示例（Bilingual Output Example）</vt:lpstr>
      <vt:lpstr>改进细节与实现（Implementation Highlights）</vt:lpstr>
      <vt:lpstr>实验结果对比（Stage1 vs Stage2 vs Bilingual）</vt:lpstr>
      <vt:lpstr>实验总结（Conclusion）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唐心怡</dc:creator>
  <cp:keywords/>
  <dc:description>generated using python-pptx</dc:description>
  <cp:lastModifiedBy>心怡 唐</cp:lastModifiedBy>
  <cp:revision>4</cp:revision>
  <dcterms:created xsi:type="dcterms:W3CDTF">2013-01-27T09:14:16Z</dcterms:created>
  <dcterms:modified xsi:type="dcterms:W3CDTF">2025-11-12T02:17:31Z</dcterms:modified>
  <cp:category/>
</cp:coreProperties>
</file>